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e7Yf848K81KO7AzPVxrDRILgj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1.1.2.1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1.2.2.1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1.2.2.2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1.2.2.3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1.2.1.1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1.2.1.1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1.2.1.1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1.2.1.4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1.2.1.5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1.2.1.5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1.2.1.5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US"/>
              <a:t>Section 1.2.1.5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90600" y="838200"/>
            <a:ext cx="67818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United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International </a:t>
            </a:r>
            <a:r>
              <a:rPr b="1" i="0" lang="en-US" sz="4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University</a:t>
            </a:r>
            <a:endParaRPr b="1" i="0" sz="2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Networks Laboratory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3712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605153" y="4916066"/>
            <a:ext cx="3482147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Md. Muhyminul Haque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Mail: muhyminul@cse.uiu.ac.bd</a:t>
            </a:r>
            <a:endParaRPr b="0" i="0" sz="18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cisco networking academy banne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927" y="6151031"/>
            <a:ext cx="9094262" cy="665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What is a Network ?</a:t>
            </a:r>
            <a:endParaRPr/>
          </a:p>
        </p:txBody>
      </p:sp>
      <p:sp>
        <p:nvSpPr>
          <p:cNvPr id="97" name="Google Shape;97;p22"/>
          <p:cNvSpPr txBox="1"/>
          <p:nvPr/>
        </p:nvSpPr>
        <p:spPr>
          <a:xfrm>
            <a:off x="207818" y="1330036"/>
            <a:ext cx="8645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Enable Data Transfer among nodes.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🡪 More </a:t>
            </a:r>
            <a:r>
              <a:rPr lang="en-US" sz="2000"/>
              <a:t>than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nodes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i.e. Home Network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5879" l="24522" r="4970" t="0"/>
          <a:stretch/>
        </p:blipFill>
        <p:spPr>
          <a:xfrm>
            <a:off x="207819" y="2778826"/>
            <a:ext cx="4815443" cy="314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262" y="2386940"/>
            <a:ext cx="4120738" cy="4073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2590800" y="147934"/>
            <a:ext cx="3505200" cy="537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19200"/>
            <a:ext cx="7629525" cy="1852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6714" l="0" r="0" t="0"/>
          <a:stretch/>
        </p:blipFill>
        <p:spPr>
          <a:xfrm>
            <a:off x="609600" y="3352800"/>
            <a:ext cx="7962900" cy="2356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266" y="1219200"/>
            <a:ext cx="8228024" cy="446908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2590800" y="147934"/>
            <a:ext cx="3505200" cy="537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LANs and WANs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Types of Networks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two most common types of network infrastructures are: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Local Area Network (LAN)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Wide Area Network (WAN).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Other types of networks include: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Metropolitan Area Network (MAN)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Wireless LAN (WLAN)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Storage Area Network (SAN)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457200" y="1440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LANs and WANs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Local Area Networks (LAN)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17639"/>
            <a:ext cx="8389917" cy="516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457200" y="1603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LANs and WANs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Wide Area Networks (WAN)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03337"/>
            <a:ext cx="9144000" cy="555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/>
        </p:nvSpPr>
        <p:spPr>
          <a:xfrm>
            <a:off x="533400" y="381000"/>
            <a:ext cx="6324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Two very common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networks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75657"/>
            <a:ext cx="7228560" cy="530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/>
        </p:nvSpPr>
        <p:spPr>
          <a:xfrm>
            <a:off x="533400" y="381000"/>
            <a:ext cx="6324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Two very common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networks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600200" y="859230"/>
            <a:ext cx="457200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types of networks include: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Metropolitan Area Network (MAN)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LAN (WLAN)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Area Network (SAN)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lan wan wlan" id="147" name="Google Shape;147;p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135327"/>
            <a:ext cx="7435331" cy="4825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LANs, WANs, and Internets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Components of a Network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There are three categories of network components: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Devices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Media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Services</a:t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 rotWithShape="1">
          <a:blip r:embed="rId3">
            <a:alphaModFix/>
          </a:blip>
          <a:srcRect b="4340" l="5324" r="2674" t="10911"/>
          <a:stretch/>
        </p:blipFill>
        <p:spPr>
          <a:xfrm>
            <a:off x="2850078" y="2327564"/>
            <a:ext cx="6115792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LANs, WANs, and Internets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Components of a Network</a:t>
            </a:r>
            <a:endParaRPr/>
          </a:p>
        </p:txBody>
      </p:sp>
      <p:sp>
        <p:nvSpPr>
          <p:cNvPr id="163" name="Google Shape;163;p27"/>
          <p:cNvSpPr/>
          <p:nvPr/>
        </p:nvSpPr>
        <p:spPr>
          <a:xfrm>
            <a:off x="398531" y="1290852"/>
            <a:ext cx="1733167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410323" y="1806904"/>
            <a:ext cx="8733677" cy="441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None/>
            </a:pPr>
            <a:r>
              <a:rPr b="1" lang="en-US"/>
              <a:t>End Device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Char char="•"/>
            </a:pPr>
            <a:r>
              <a:rPr lang="en-US"/>
              <a:t>Computers (work stations (i.e. Desktop ,Laptops), Servers)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Char char="•"/>
            </a:pPr>
            <a:r>
              <a:rPr lang="en-US"/>
              <a:t>Network printers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Char char="•"/>
            </a:pPr>
            <a:r>
              <a:rPr lang="en-US"/>
              <a:t>VoIP phones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Char char="•"/>
            </a:pPr>
            <a:r>
              <a:rPr lang="en-US"/>
              <a:t>Telepresence endpoint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Char char="•"/>
            </a:pPr>
            <a:r>
              <a:rPr lang="en-US"/>
              <a:t>Security cameras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Char char="•"/>
            </a:pPr>
            <a:r>
              <a:rPr lang="en-US"/>
              <a:t>Mobile handheld devices (such as smartphones, tablets, PDAs, and wireless debit / credit card readers and barcode scanners)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LANs, WANs, and Internets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Components of a Network</a:t>
            </a:r>
            <a:endParaRPr/>
          </a:p>
        </p:txBody>
      </p:sp>
      <p:sp>
        <p:nvSpPr>
          <p:cNvPr id="171" name="Google Shape;171;p28"/>
          <p:cNvSpPr/>
          <p:nvPr/>
        </p:nvSpPr>
        <p:spPr>
          <a:xfrm>
            <a:off x="398531" y="1290852"/>
            <a:ext cx="1733167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410323" y="1806904"/>
            <a:ext cx="8733677" cy="441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Intermediate Device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Network Access Devices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(switches, and wireless access points)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Internetworking Devices (Routers)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Security Devices (Firewalls)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457200" y="471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LANs, WANs, and Internets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Components of a Network</a:t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525" y="1393888"/>
            <a:ext cx="7243948" cy="5464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Components of a Network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Network Representations</a:t>
            </a:r>
            <a:endParaRPr/>
          </a:p>
        </p:txBody>
      </p:sp>
      <p:pic>
        <p:nvPicPr>
          <p:cNvPr id="186" name="Google Shape;186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-24477" r="-24477" t="0"/>
          <a:stretch/>
        </p:blipFill>
        <p:spPr>
          <a:xfrm>
            <a:off x="0" y="1623950"/>
            <a:ext cx="9144000" cy="5109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-142504" y="274638"/>
            <a:ext cx="96427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Components of a Network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OSI Layer(</a:t>
            </a:r>
            <a:r>
              <a:rPr lang="en-US"/>
              <a:t>Open Systems Interconnection)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osi model" id="193" name="Google Shape;193;p3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osi model" id="194" name="Google Shape;194;p3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result for osi model" id="195" name="Google Shape;195;p31"/>
          <p:cNvPicPr preferRelativeResize="0"/>
          <p:nvPr/>
        </p:nvPicPr>
        <p:blipFill rotWithShape="1">
          <a:blip r:embed="rId3">
            <a:alphaModFix/>
          </a:blip>
          <a:srcRect b="5366" l="5377" r="4565" t="469"/>
          <a:stretch/>
        </p:blipFill>
        <p:spPr>
          <a:xfrm>
            <a:off x="1425039" y="1417638"/>
            <a:ext cx="5818909" cy="5347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152303" y="103437"/>
            <a:ext cx="8772157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Address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osi model" id="202" name="Google Shape;202;p3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osi model" id="203" name="Google Shape;203;p3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152303" y="941636"/>
            <a:ext cx="88395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Type of Address in Computer Networks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Physical Address/MAC 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🡪MAC (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edia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ccess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ontrol) is A Unique Identifier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🡪 48 bits Hexadecimal Address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🡪 Ex. 00:0a:95:9d:68:16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🡪 First Three Octets are Manufacturers ID</a:t>
            </a:r>
            <a:endParaRPr/>
          </a:p>
          <a:p>
            <a: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Dell:    00-14-22</a:t>
            </a:r>
            <a:endParaRPr/>
          </a:p>
          <a:p>
            <a: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Cisco: 00-40-96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Internet Protocol(IP) 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Two Types of IP Address: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🡪 IPv4: Internet Protocol version 4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IPv4 Length: 32 bits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IPv6: Internet Protocol version 6</a:t>
            </a:r>
            <a:endParaRPr/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IPv6 Length: 128 bits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387927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Internet Protocol (IP)</a:t>
            </a:r>
            <a:r>
              <a:rPr lang="en-US"/>
              <a:t>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osi model" id="211" name="Google Shape;211;p3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osi model" id="212" name="Google Shape;212;p3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526473" y="1560163"/>
            <a:ext cx="809105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of IP: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🡪 IPv4: Internet Protocol version 4</a:t>
            </a:r>
            <a:endParaRPr/>
          </a:p>
          <a:p>
            <a:pPr indent="-12700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IPv4 Length: 32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🡪 IPv6: Internet Protocol version 6</a:t>
            </a:r>
            <a:endParaRPr/>
          </a:p>
          <a:p>
            <a:pPr indent="-12700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IPv6 Length: 128 bits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273132" y="3786251"/>
            <a:ext cx="889857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IPv4 : Dotted Decimal 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Ex. 192.168.10.0/24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IPv6 : Hexadecimal Address separated by colons (:)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Ex. 2001:0db8:85a3:0000:0000:8a2e:0370:7334/64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 txBox="1"/>
          <p:nvPr/>
        </p:nvSpPr>
        <p:spPr>
          <a:xfrm>
            <a:off x="533400" y="457200"/>
            <a:ext cx="5410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LAN: Local Area Network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88" y="1624013"/>
            <a:ext cx="842962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228600" y="304800"/>
            <a:ext cx="3962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LAN: Local Area Network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8" y="1285875"/>
            <a:ext cx="9115425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2016-05-29T05:19:12Z</dcterms:created>
  <dc:creator>Red Queen</dc:creator>
</cp:coreProperties>
</file>